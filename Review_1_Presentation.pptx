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1):</a:t>
            </a:r>
          </a:p>
          <a:p>
            <a:r>
              <a:t>Respected evaluators, I am Member 1 opening Review 1 for CineSphere. Our project is an Agile-based movie recommendation system. Beyond implementing web functionality, our primary research focus in this Software Metrics course is embedding empirical measurement into our development workflow to control complexity and maintainability.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1):</a:t>
            </a:r>
          </a:p>
          <a:p>
            <a:r>
              <a:t>Here we establish why Software Metrics is vital. Web apps built without metrics deteriorate over time. CineSphere addresses this by introducing quantitative engineering controls at every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1):</a:t>
            </a:r>
          </a:p>
          <a:p>
            <a:r>
              <a:t>I am still Member 1. Here we formulate our exact problem statement and define 3 critical research questions that our software metrics framework will empirically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2):</a:t>
            </a:r>
          </a:p>
          <a:p>
            <a:r>
              <a:t>Hello evaluators, I am Member 2 taking over. I present our functional requirements and system modules, laying the foundation for our system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2):</a:t>
            </a:r>
          </a:p>
          <a:p>
            <a:r>
              <a:t>This slide details our 3-tier architecture and explains how data flows seamlessly between client, PHP application logic, and MySQL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2):</a:t>
            </a:r>
          </a:p>
          <a:p>
            <a:r>
              <a:t>As part of Review 1 literature survey, this table reviews 5 recent research papers published in the last 2 years (2024-2025) in IEEE/ACM software engineering journals.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2):</a:t>
            </a:r>
          </a:p>
          <a:p>
            <a:r>
              <a:t>Summarizing the 4 key literature gaps. This clearly proves the academic novelty and necessity of our project for Review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3):</a:t>
            </a:r>
          </a:p>
          <a:p>
            <a:r>
              <a:t>Good morning evaluators, I am Member 3. I will present our complete 7-metric tool descriptions and technical mathematical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3):</a:t>
            </a:r>
          </a:p>
          <a:p>
            <a:r>
              <a:t>Explaining LOC and Cyclomatic Complexity. We use McCabe's graph formula to ensure control paths remain simple and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3):</a:t>
            </a:r>
          </a:p>
          <a:p>
            <a:r>
              <a:t>Covering Maintainability Index and Code Coverage. MI gives an overall health score of the codebase.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3):</a:t>
            </a:r>
          </a:p>
          <a:p>
            <a:r>
              <a:t>Detailing Database Metrics and System Performance profiling using MySQL EXPLAIN, ApacheBenchmark, and Lighthouse.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3):</a:t>
            </a:r>
          </a:p>
          <a:p>
            <a:r>
              <a:t>Concluding the 7 metrics descriptions with Defect Density formula and severity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1):</a:t>
            </a:r>
          </a:p>
          <a:p>
            <a:r>
              <a:t>Member 1 back. This slide presents our relational database schema and shows how database metrics directly informed index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2):</a:t>
            </a:r>
          </a:p>
          <a:p>
            <a:r>
              <a:t>Member 2 presenting our automated Jenkins pipeline flow and AWS deployment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SCRIPT (Member 3):</a:t>
            </a:r>
          </a:p>
          <a:p>
            <a:r>
              <a:t>Member 3 concluding Review 1 presentation. We have accomplished all goals for Review 1 and are ready for Sprint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572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CineSphere: Agile-Based Movie Recommendation System</a:t>
            </a:r>
          </a:p>
          <a:p>
            <a:pPr>
              <a:spcBef>
                <a:spcPts val="1400"/>
              </a:spcBef>
              <a:defRPr sz="2600" b="1">
                <a:solidFill>
                  <a:srgbClr val="0EA5E9"/>
                </a:solidFill>
              </a:defRPr>
            </a:pPr>
            <a:r>
              <a:t>Review 1 Presentation (05 Marks)</a:t>
            </a:r>
          </a:p>
          <a:p>
            <a:pPr>
              <a:spcBef>
                <a:spcPts val="1000"/>
              </a:spcBef>
              <a:defRPr sz="1600">
                <a:solidFill>
                  <a:srgbClr val="E2E8F0"/>
                </a:solidFill>
              </a:defRPr>
            </a:pPr>
            <a:r>
              <a:t>Problem Definition, Literature Survey, 7 Metrics Tools &amp; System Architecture (Team of 3)</a:t>
            </a:r>
          </a:p>
          <a:p>
            <a:pPr>
              <a:spcBef>
                <a:spcPts val="2400"/>
              </a:spcBef>
              <a:defRPr sz="1400" b="1">
                <a:solidFill>
                  <a:srgbClr val="F59E0B"/>
                </a:solidFill>
              </a:defRPr>
            </a:pPr>
            <a:r>
              <a:t>Course: Software Metrics  |  Team of 3 Members (Member 1, Member 2, Member 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Abstract &amp; 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CineSphere is a full-stack movie recommendation web application engineered with an Agile methodology.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Provides seamless movie browsing, genre filtering, community reviews, star ratings, personalized watchlists, and full administrator catalog control.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Built using HTML5, CSS3, JavaScript, PHP 8.1 backend APIs, and MySQL relational database, hosted on AWS EC2 with continuous integration via Jenkins.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Project Core 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Main Objective: To embed rigorous, empirical Software Metrics into every Agile sprint to eliminate technical debt.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Systematically measures code volume, control flow complexity, maintainability index, database execution efficiency, load performance, defect density, and test coverage.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Establishes a quantitative baseline to guarantee high software reliability prior to production cloud deployment.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Software Metrics Focus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Introduction &amp; Industrial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Modern dynamic web applications require low latency (&lt;200ms), high concurrency, and long-term code maintainability.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Traditional PHP/MySQL applications frequently suffer from monolithic script bloat, spaghetti control logic, unindexed database queries, and hidden production defects.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Without software metrics, code quality assessment remains purely subjective, leading to high maintenance costs and software decay.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The Web Engineering Challenge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1. Develop a high-performing, responsive movie discovery platform.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2. Formulate a 7-metric software measurement framework across static, dynamic, and database domains.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3. Automate continuous metrics generation within a Jenkins CI/CD deployment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Project Vision &amp;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Definition &amp; Key Research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Existing open-source movie platforms often lack continuous metrics profiling, resulting in high cyclomatic complexity, slow SQL response times under load, and inadequate test coverage.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Engineering teams lack a unified multi-dimensional dashboard that tracks code maintainability alongside database performance and defect rates during Agile sprints.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Problem Statement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Q1: How does refactoring functions with high Cyclomatic Complexity V(G) impact the overall Maintainability Index (MI)?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Q2: What is the quantitative relationship between unit test coverage and post-release defect density in PHP web applications?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Q3: How do database index optimization metrics translate into page load speed improvements under concurrent load?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Key Research Questions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Functional Requirements &amp; System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62858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User registration, login authentication, password hashing (BCRYPT), email verification (SmtpMailer), and session persistence.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3362858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Module 1: User Authentication &amp;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280160"/>
            <a:ext cx="3362858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Real-time search, genre-based filtering, top-rated recommendations, and TMDB API fallback integration.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4418" y="1280160"/>
            <a:ext cx="3362858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Module 2: Movie Discovery &amp; Recommendation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1280160"/>
            <a:ext cx="3362858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User movie reviews, 5-star rating aggregations, personalized watchlists, and admin CRUD catalog management.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316" y="1280160"/>
            <a:ext cx="3362858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Module 3: Reviews, Ratings &amp; Watchlist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3-Tier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Presentation Tier: Responsive HTML5, CSS3, JavaScript, rendering dynamic AJAX content.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Application Tier: Apache Web Server running modular PHP 8.1 API controllers (auth.php, movies.php, reviews.php).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Data Tier: MySQL Relational Database holding Users, Movies, Reviews, and Watchlist tables with B-Tree indexes.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3-Tier System Layering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GitHub Version Control → Jenkins CI/CD Server → Automated Metric Profiling → AWS EC2 Cloud Deployment.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DevOps &amp; Deployment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Literature Survey: 5 Recent Research Papers (2024–2025)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Contribution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Gap Identified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Al-Maimani et al. (2024)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Automated Maintainability &amp; Complexity Evaluation in Agile CI/CD Pipelines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Evaluates static code metrics only during build time, ignoring database query latency and cloud infrastructure response times.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Sharma &amp; Kumar (2024)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ML-Based Defect Density Prediction using Code Coverage &amp; Cyclomatic Complexity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Requires extensive historical bug datasets and does not offer real-time feedback during active sprint commits.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Chen et al. (2025)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Empirical Database Query Performance &amp; Index Optimization Framework for Web Apps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Focuses strictly on relational database schema metrics without correlating them to frontend user page load speed.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Kowalski &amp; Zhang (2024)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Continuous Quality Gates Integration using Jenkins &amp; SonarQube in Agile Frameworks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Lacks unified metric thresholds that combine static maintainability indices with dynamic load throughput.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Patel et al. (2025)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Impact of Continuous Refactoring on Technical Debt &amp; Code Coverage in Web Applications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Evaluates refactoring manually post-release rather than dynamically enforcing quality gates in DevOps pipelines.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Literature Gap Analysis &amp; System Novelty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1. Fragmented Metrics: Code complexity, database performance, and defect density are evaluated in isolation.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2. Manual &amp; Post-Hoc Collection: Metrics are usually computed at project termination rather than continuously per commit.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3. Lack of PHP Web Benchmarks: Minimal empirical metrics literature exists specifically for PHP/MySQL cloud applications.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4. Absence of DB-to-UI Latency Correlation: Existing models do not map database index hit ratios directly to end-user page load speed.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Four Major Gaps in Existing Literature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Delivers a unified 7-metric automated profiling framework integrated directly into Jenkins CI/CD builds on AWS EC2.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CineSphere Novel Contribution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Software Metrics Taxonomy &amp; Classification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Product Metrics: Size (LOC), Control Flow Complexity (V(G)), Maintainability Index (MI).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Process &amp; Quality Metrics: Defect Density (defects/KLOC), Unit Test Code Coverage (%).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Resource &amp; Infrastructure Metrics: Page Load Speed (ms), Latency (TTFB), Throughput (req/sec).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Database Metrics: Query Execution Time (ms), Index Hit Ratio (%), Table Scan Count.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Metrics Classification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All metrics are quantitatively measured, automated via CLI tools, and checked against pre-defined quality thresholds.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Evaluation Criteria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Metrics Tool Descriptions (1. LOC &amp; 2. Cyclomatic Complexity)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Physical LOC (PLOC): Total lines including whitespace &amp; comments.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Logical LOC (LLOC): Executable statements (e.g., control structures, assignments).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Target: Maintain modular file size (&lt; 300 LLOC per file) to prevent monolithic maintenance anti-patterns.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1. Lines of Code (LOC) — Tool: PHPLOC / SonarQube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Mathematical Formula: V(G) = E - N + 2P (Edges E, Nodes N, Connected Components P).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Alternative Formula: V(G) = Number of Decision Predicates + 1.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Quality Thresholds: V(G) 1-10 (Low Risk / Simple), 11-20 (Moderate Risk), &gt;20 (High Risk / Mandatory Refactoring).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2. Cyclomatic Complexity V(G) — Tool: PHP_CodeSniffer / PHPMD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Metrics Tool Descriptions (3. Maintainability Index &amp; 7. Coverage)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Composite Formula: MI = 171 - 5.2 * ln(V) - 0.23 * V(G) - 16.2 * ln(LLOC), where V is Halstead Volume.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Normalized Scale: MI &gt; 80 (Green - High Maintainability), 65-80 (Yellow - Moderate), &lt; 65 (Red - Severe Risk).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Target Benchmark: Maintain overall codebase MI &gt; 80.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3. Maintainability Index (MI) — Tool: PHP Metrics / Radon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Measures percentage of executed code lines and logic branches during automated unit testing.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Formula: Coverage % = (Executed Lines / Total Executable Lines) * 100.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Target Benchmark: Achieve &gt; 80% line coverage across all backend API controllers.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7. Code Coverage — Tool: PHPUnit + Xdebug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Metrics Tool Descriptions (4. Database &amp; 5. Performance Metrics)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Index Hit Ratio: (Indexed Reads / Total Query Reads) * 100. Target &gt; 95%.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Query Latency: Average time taken to execute database queries. Target &lt; 30ms.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Full Table Scans: Monitor and eliminate unindexed SELECT queries examining thousands of rows.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4. Database Metrics — Tool: MySQL EXPLAIN &amp; Performance Schema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Time to First Byte (TTFB): Initial server response latency. Target &lt; 150ms.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Page Load Speed: Total rendering duration on client. Target &lt; 1.5 seconds.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Throughput: Requests handled per second under concurrent user load. Target &gt; 200 req/sec.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5. Performance Metrics — Tool: ApacheBenchmark (ab) &amp; Google Lighthouse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Metrics Tool Descriptions (6. Defect Density &amp; Quality Matrix)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Formula: Defect Density = (Total Confirmed Bugs / Size in KLOC).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Severity Classification: Critical (System crash/security), Major (Feature broken), Minor (UI glitch).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Target Benchmark: Defect Density &lt; 2.0 defects per 1000 LOC post-release.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6. Defect Density — Tool: GitHub Issues &amp; Azure DevOps Bug Tracker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All 7 metrics (LOC, V(G), MI, DB Latency, Performance, Defect Density, Coverage) are fully operational and integrated into our testing suite.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Summary Matrix of All 7 Metrics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Database Schema &amp; Entity Relationship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Foreign Keys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Key Fields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EA5E9"/>
                          </a:solidFill>
                        </a:defRPr>
                      </a:pPr>
                      <a:r>
                        <a:t>Metrics Optimization Target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name, email, password_hash, created_at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Unique index on email (&lt;5ms login lookup)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Movies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title, genre, rating, image_url, description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Composite index on (genre, rating) for dynamic filtering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Reviews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user_id, movie_id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comment, rating, created_at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Index on movie_id to eliminate full table scans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Watchlist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user_id, movie_id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added_at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Unique constraint on (user_id, movie_id) to prevent duplicate entries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Automated Jenkins CI/CD &amp; Cloud Deployment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1. Trigger: Developer pushes code commit to GitHub repository.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2. Static Analysis Stage: Jenkins executes PHPLOC &amp; PHP_CodeSniffer to compute LOC and V(G).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3. Test &amp; Coverage Stage: Executes PHPUnit tests and generates Xdebug coverage report.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4. Metrics Check: If V(G) &gt; 15 or Coverage &lt; 70%, build fails automatically.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5. Deployment Stage: Automated SSH push to Apache web root on AWS EC2.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Jenkins Automated Pipeline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AWS EC2 Instance hosting Apache2 HTTP server, PHP 8.1 runtime, and MySQL database.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AWS Infrastructure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Agile Sprint Roadmap &amp; Review 1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74320"/>
            <a:ext cx="201168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🎤 Presenter: Member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CineSphere — Software Metrics | Review 1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Sprint 1 (Review 1 Phase): Requirement analysis, DB schema design, literature review, metrics tool setup.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Sprint 2 (Review 2 Phase): Core backend API implementation, 50% code completion, initial metrics evaluation &amp; refactoring.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Sprint 3 (Review 3 Phase): Full 100% feature completion, AWS cloud deployment, final software metrics benchmarking.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Three-Sprint Agile Execution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1280160"/>
            <a:ext cx="5204307" cy="4846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640080"/>
          <a:lstStyle/>
          <a:p>
            <a:pPr algn="ctr"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✓ Problem definition &amp; literature gap analysis completed across 5 foundational papers.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✓ 7 software metrics definitions, formulas, and tools established.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 ✓ 3-tier architecture, DB schema, and Jenkins CI/CD pipeline designed.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280160"/>
            <a:ext cx="5204307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Review 1 Accomplishments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